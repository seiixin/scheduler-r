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Welcome students. Sabihin na today, from zero or basic knowledge, gagawa tayo ng simple website using HTML and CSS. Emphasize hands-on, hindi puro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outcomes. Hindi kailangan maging expert agad. Goal is to understand how HTML gives structure and CSS gives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timing so students know pacing. Mention breaks can be adjusted.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sabihin sa students na ito ang next major part ng session. Before coding, students need to understand what HTML, CSS, and the browser actually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simple analogy: HTML is the skeleton, CSS is the clothes and visual style, browser is the one that displays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open their code editor and create a folder. VS Code recommended, but any editor is okay.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sabihin sa students na ito ang next major part ng session. HTML describes what each part of the web page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code this slowly. Explain that boilerplate is the basic starting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tag is the syntax, element is complete opening/content/closing, attribute adds extra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quick examples in browser. Ask students to predict output before refreshing.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accessibility and cleaner code. Semantic HTML helps both humans and browsers understand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forms need backend to truly save data, but HTML can display the input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give students 15 to 20 minutes. Walk around and check that everyone has a valid index.html.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sabihin sa students na ito ang next major part ng session. CSS controls how the HTML content looks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CSS does not run unless linked correctly in the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selector, property, value. Use real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simple: later rules can override earlier rules, and more specific selectors usually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if possible. Content then padding then border then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simple design principles. Avoid too many colors and too many fonts.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20 to 25 minutes. Students should see visual improvements after each CSS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sabihin sa students na ito ang next major part ng session. Modern websites are about spacing, alignment, and responsive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with div, p, span, and button. Show how width behaves.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parts. Use nav links or cards as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Grid as useful for galleries, dashboard sections, and card layouts.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responsive design is not optional anymore. Mobile users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combine HTML and CSS skills. Students can use their personal profile activity as the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starter template. Emphasize that students may change text and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these practical rules before project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be used for grading or peer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debugging mindset. Do not panic. Read the code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simplified teaching flow you can repeat each slide: explain, show, code, ask,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encouragement. Let a few students present outputs. Give next topic suggestions.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if some students finish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Congratulate students. Remind them that every web developer started with HTML and CSS basics.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417320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</a:rPr>
              <a:t>HTML &amp; CSS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13232" y="21488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</a:rPr>
              <a:t>Foundations for Beginners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4-hour hands-on session for students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3401568"/>
            <a:ext cx="1389888" cy="310896"/>
          </a:xfrm>
          <a:prstGeom prst="roundRect">
            <a:avLst>
              <a:gd name="adj" fmla="val 1764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465576"/>
            <a:ext cx="1152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</a:rPr>
              <a:t>HTML structure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1720" y="340156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3465576"/>
            <a:ext cx="969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</a:rPr>
              <a:t>CSS styling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30752" y="340156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3465576"/>
            <a:ext cx="996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Mini website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33488" y="118872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42632" y="1197864"/>
            <a:ext cx="3730752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07224" y="131673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131673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64424" y="1316736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7808" y="1901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My First Website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36408" y="2432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Heading • Paragraph • Button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36408" y="27614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Layout • Color • Responsive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Session Goals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By the end of 4 hours, students can build and style a simple responsive web page.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15087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67335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1. Understand HTML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2020824"/>
            <a:ext cx="284378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tags, elements, attributes, links, images, lists, and forms.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34840" y="15087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67335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2. Apply CSS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36008" y="2020824"/>
            <a:ext cx="284378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selectors, colors, spacing, typography, and the box model.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138160" y="15087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9328" y="1673352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3. Build Layouts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39328" y="2020824"/>
            <a:ext cx="284378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Flexbox, basic Grid, and responsive design principles.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2377440" y="3657600"/>
            <a:ext cx="3383280" cy="1115568"/>
          </a:xfrm>
          <a:prstGeom prst="roundRect">
            <a:avLst>
              <a:gd name="adj" fmla="val 6557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78608" y="38221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Output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578608" y="4169664"/>
            <a:ext cx="29809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 personal profile or landing page students can present.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400800" y="3657600"/>
            <a:ext cx="3383280" cy="1115568"/>
          </a:xfrm>
          <a:prstGeom prst="roundRect">
            <a:avLst>
              <a:gd name="adj" fmla="val 6557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38221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Learning Style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01968" y="4169664"/>
            <a:ext cx="29809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Short demo, live coding, guided activity, mini challenge.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4-Hour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Suggested timing for one classroom session.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914400" y="1920240"/>
            <a:ext cx="1865376" cy="2057400"/>
          </a:xfrm>
          <a:prstGeom prst="roundRect">
            <a:avLst>
              <a:gd name="adj" fmla="val 3922"/>
            </a:avLst>
          </a:prstGeom>
          <a:solidFill>
            <a:srgbClr val="38BDF8">
              <a:alpha val="13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2148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0:00–0:25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0704" y="27432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Web basics + setup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90672" y="1920240"/>
            <a:ext cx="1865376" cy="2057400"/>
          </a:xfrm>
          <a:prstGeom prst="roundRect">
            <a:avLst>
              <a:gd name="adj" fmla="val 3922"/>
            </a:avLst>
          </a:prstGeom>
          <a:solidFill>
            <a:srgbClr val="34D399">
              <a:alpha val="13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36976" y="2148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0:25–1:25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36976" y="27432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HTML structure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66944" y="1920240"/>
            <a:ext cx="1865376" cy="2057400"/>
          </a:xfrm>
          <a:prstGeom prst="roundRect">
            <a:avLst>
              <a:gd name="adj" fmla="val 3922"/>
            </a:avLst>
          </a:prstGeom>
          <a:solidFill>
            <a:srgbClr val="A78BFA">
              <a:alpha val="13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3248" y="2148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1:25–2:25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13248" y="27432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CSS fundamentals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43216" y="1920240"/>
            <a:ext cx="1865376" cy="2057400"/>
          </a:xfrm>
          <a:prstGeom prst="roundRect">
            <a:avLst>
              <a:gd name="adj" fmla="val 3922"/>
            </a:avLst>
          </a:prstGeom>
          <a:solidFill>
            <a:srgbClr val="FB923C">
              <a:alpha val="13000"/>
            </a:srgbClr>
          </a:solidFill>
          <a:ln w="12700">
            <a:solidFill>
              <a:srgbClr val="FB923C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2148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</a:rPr>
              <a:t>2:25–3:20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89520" y="27432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Layouts + responsive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619488" y="1920240"/>
            <a:ext cx="1865376" cy="2057400"/>
          </a:xfrm>
          <a:prstGeom prst="roundRect">
            <a:avLst>
              <a:gd name="adj" fmla="val 3922"/>
            </a:avLst>
          </a:prstGeom>
          <a:solidFill>
            <a:srgbClr val="FBBF24">
              <a:alpha val="13000"/>
            </a:srgbClr>
          </a:solidFill>
          <a:ln w="12700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65792" y="2148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3:20–4:00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765792" y="27432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Mini project + sharing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91640" y="5760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4767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Web Page Mental Model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" y="305409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Before coding, students need to understand what HTML, CSS, and the browser actually do.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69680" y="1325880"/>
            <a:ext cx="2560320" cy="3611880"/>
          </a:xfrm>
          <a:prstGeom prst="rect">
            <a:avLst/>
          </a:prstGeom>
          <a:solidFill>
            <a:srgbClr val="38BDF8">
              <a:alpha val="9000"/>
            </a:srgbClr>
          </a:solidFill>
          <a:ln w="1524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9828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&lt;  /  &gt;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How a Web Page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HTML is the content. CSS is the design. The browser renders both.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17647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HTML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8408" y="2112264"/>
            <a:ext cx="2615184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Defines the page structure: headings, paragraphs, images, links, sections, and forms.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57200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7647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73168" y="2112264"/>
            <a:ext cx="2615184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Controls appearance: colors, fonts, spacing, layout, alignment, and responsiveness.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366760" y="160020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67928" y="17647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Browser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67928" y="2112264"/>
            <a:ext cx="2615184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Reads the files and turns them into a visual web page users can interact with.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977640" y="2331720"/>
            <a:ext cx="347472" cy="347472"/>
          </a:xfrm>
          <a:prstGeom prst="chevron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2331720"/>
            <a:ext cx="347472" cy="347472"/>
          </a:xfrm>
          <a:prstGeom prst="chevron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Tools Needed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Keep the setup simple so students can focus on concepts.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914400" y="14630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16276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Code Editor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5568" y="1975104"/>
            <a:ext cx="25694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VS Code or any plain text editor.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617720" y="14630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6276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Browser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18888" y="1975104"/>
            <a:ext cx="25694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Chrome, Edge, Firefox, or Safari.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321040" y="14630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22208" y="16276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Folder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22208" y="1975104"/>
            <a:ext cx="256946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Create one project folder with index.html and style.css.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1828800" y="3429000"/>
            <a:ext cx="854964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35844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21992" y="35844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50592" y="35844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24912" y="3557016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project folder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048256" y="3904488"/>
            <a:ext cx="811072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my-first-website/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style.css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91640" y="5760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4767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HTML: Structure First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" y="305409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HTML describes what each part of the web page means.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69680" y="1325880"/>
            <a:ext cx="2560320" cy="3611880"/>
          </a:xfrm>
          <a:prstGeom prst="rect">
            <a:avLst/>
          </a:prstGeom>
          <a:solidFill>
            <a:srgbClr val="FB923C">
              <a:alpha val="9000"/>
            </a:srgbClr>
          </a:solidFill>
          <a:ln w="1524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9828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923C"/>
                </a:solidFill>
              </a:rPr>
              <a:t>&lt;  /  &gt;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HTML Document Anatomy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Every page starts with a basic document structure.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1545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416" y="1892808"/>
            <a:ext cx="5961888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 /&gt;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name="viewport" content="width=device-width, initial-scale=1.0" /&gt;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&lt;title&gt;My First Website&lt;/title&gt;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&lt;h1&gt;Hello, students!&lt;/h1&gt;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&lt;p&gt;This is my first web page.&lt;/p&gt;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726680" y="1572768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7848" y="173736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&lt;head&gt;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27848" y="2084832"/>
            <a:ext cx="3072384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Information about the page, not usually shown directly.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726680" y="278892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27848" y="29535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&lt;body&gt;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27848" y="3300984"/>
            <a:ext cx="3072384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Visible content shown in the browser.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726680" y="4005072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27848" y="416966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viewport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927848" y="4517136"/>
            <a:ext cx="3072384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Important for mobile-friendly pages.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Tags, Elements, Attributes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Three words students must understand early.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508760"/>
            <a:ext cx="5486400" cy="3337560"/>
          </a:xfrm>
          <a:prstGeom prst="roundRect">
            <a:avLst>
              <a:gd name="adj" fmla="val 2192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6642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16642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16642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16367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examples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416" y="1984248"/>
            <a:ext cx="504748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href="https://example.com"&gt;Visit Website&lt;/a&gt;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src="profile.jpg" alt="Profile photo" /&gt;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class="intro"&gt;Welcome to my page.&lt;/p&gt;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903720" y="15087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04888" y="167335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Tag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04888" y="2020824"/>
            <a:ext cx="38039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The markup name like &lt;p&gt;, &lt;a&gt;, &lt;img&gt;.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903720" y="256032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04888" y="272491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Element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04888" y="3072384"/>
            <a:ext cx="38039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The complete HTML part: opening tag + content + closing tag.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903720" y="36118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04888" y="377647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Attribute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04888" y="4123944"/>
            <a:ext cx="380390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Extra details like href, src, alt, class, or id.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Common HTML Tags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Start with tags students will use often.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49808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58191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Text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50976" y="1929384"/>
            <a:ext cx="192938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h1 to h6, p, strong, em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493008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94176" y="158191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Media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94176" y="1929384"/>
            <a:ext cx="192938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img, video, audio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236208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37376" y="158191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Navigation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37376" y="1929384"/>
            <a:ext cx="192938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a, nav, ul, li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979408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0576" y="158191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Structure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80576" y="1929384"/>
            <a:ext cx="1929384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header, main, section, footer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1920240" y="324612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84832" y="34015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13432" y="34015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42032" y="34015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16352" y="33741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HTML sample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139696" y="3721608"/>
            <a:ext cx="7973568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&lt;h1&gt;About Me&lt;/h1&gt;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&lt;p&gt;I am learning web development.&lt;/p&gt;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href="contact.html"&gt;Contact me&lt;/a&gt;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src="me.jpg" alt="My photo" /&gt;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Semantic HTML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Use tags that describe meaning, not just appearance.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41732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3327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6187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9047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64792" y="15453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semantic structure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88136" y="1892808"/>
            <a:ext cx="5230368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&lt;nav&gt;Home | About | Contact&lt;/nav&gt;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&lt;h2&gt;About Me&lt;/h2&gt;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&lt;p&gt;I enjoy building websites.&lt;/p&gt;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&lt;footer&gt;© 2026 My Website&lt;/footer&gt;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315200" y="1481328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24344" y="1490472"/>
            <a:ext cx="3364992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88936" y="1609344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17536" y="1609344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46136" y="1609344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21945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Page Layout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18120" y="27249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Header + Navigation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818120" y="30540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Main content section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818120" y="33832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Footer area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Forms: Getting User Input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Forms allow users to send information.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85216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15453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form.html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416" y="1892808"/>
            <a:ext cx="5413248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for="name"&gt;Name&lt;/label&gt;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id="name" type="text" placeholder="Enter your name" /&gt;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for="message"&gt;Message&lt;/label&gt;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id="message"&gt;&lt;/textarea&gt;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type="submit"&gt;Send&lt;/button&gt;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315200" y="16459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16368" y="181051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label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16368" y="2157984"/>
            <a:ext cx="29809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Text connected to an input field.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315200" y="269748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16368" y="286207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input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16368" y="3209544"/>
            <a:ext cx="29809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Single-line field for text, email, password, number, etc.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315200" y="374904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16368" y="391363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button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16368" y="4261104"/>
            <a:ext cx="298094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Used to submit or trigger an action.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Guided Activity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Build a personal profile using only HTML.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4630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627632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Required Content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9848" y="1975104"/>
            <a:ext cx="279806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Full name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Short bio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Hobbies list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Favorite website link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Profile image placeholder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617720" y="146304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Rules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18888" y="1975104"/>
            <a:ext cx="261518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Use semantic tags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Use at least one list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Use alt text for images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Keep indentation clean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183880" y="146304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6276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385048" y="1975104"/>
            <a:ext cx="243230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 working index.html file that opens in the browser.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91640" y="5760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4767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CSS: Make It Look Designed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" y="305409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CSS controls how the HTML content looks on screen.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69680" y="1325880"/>
            <a:ext cx="2560320" cy="3611880"/>
          </a:xfrm>
          <a:prstGeom prst="rect">
            <a:avLst/>
          </a:prstGeom>
          <a:solidFill>
            <a:srgbClr val="38BDF8">
              <a:alpha val="9000"/>
            </a:srgbClr>
          </a:solidFill>
          <a:ln w="1524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9828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&lt;  /  &gt;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Connecting CSS to HTML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External CSS keeps design separate from content.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6459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8013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18013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18013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17739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416" y="2121408"/>
            <a:ext cx="463600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inside &lt;head&gt; --&gt;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 /&gt;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00800" y="1645920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65392" y="18013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93992" y="18013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22592" y="18013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96912" y="17739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style.css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620256" y="2121408"/>
            <a:ext cx="4361688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#f8fafc;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#0f172a;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1920240" y="4251960"/>
            <a:ext cx="8183880" cy="777240"/>
          </a:xfrm>
          <a:prstGeom prst="roundRect">
            <a:avLst>
              <a:gd name="adj" fmla="val 941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21408" y="4416552"/>
            <a:ext cx="7781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Key Idea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121408" y="4764024"/>
            <a:ext cx="778154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HTML and CSS are separate files, but the &lt;link&gt; tag connects them.</a:t>
            </a:r>
            <a:endParaRPr lang="en-US" sz="10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CSS Syntax &amp; Selectors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Selector chooses the element. Declarations apply the style.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154533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CSS syntax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416" y="1892808"/>
            <a:ext cx="4818888" cy="3401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navy;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40px;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.intro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gray;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629400" y="15544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0568" y="171907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Element selector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30568" y="2066544"/>
            <a:ext cx="352958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h1, p, button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629400" y="2578608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0568" y="274320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Class selector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30568" y="3090672"/>
            <a:ext cx="352958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.intro, .card, .navbar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629400" y="3602736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30568" y="376732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ID selector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30568" y="4114800"/>
            <a:ext cx="352958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#main-title, #contact-form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The Cascade: Why Some Styles Win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CSS reads rules and decides which one applies.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44752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600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1600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1600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1572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which color wins?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416" y="1920240"/>
            <a:ext cx="4681728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gray;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.intro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#hero-text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green;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00800" y="1444752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160934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Order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01968" y="1956816"/>
            <a:ext cx="3895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If selectors are equal, the later rule can win.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400800" y="265176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28163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Specificity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601968" y="3163824"/>
            <a:ext cx="3895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ID is stronger than class. Class is stronger than element.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400800" y="3858768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40233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Best Practice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01968" y="4370832"/>
            <a:ext cx="3895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classes for most styling.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The Box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Every HTML element is treated like a box.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097280" y="1417320"/>
            <a:ext cx="4572000" cy="3657600"/>
          </a:xfrm>
          <a:prstGeom prst="rect">
            <a:avLst/>
          </a:prstGeom>
          <a:solidFill>
            <a:srgbClr val="FB923C">
              <a:alpha val="8000"/>
            </a:srgbClr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5727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923C"/>
                </a:solidFill>
              </a:rPr>
              <a:t>margin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00200" y="1874520"/>
            <a:ext cx="3566160" cy="2743200"/>
          </a:xfrm>
          <a:prstGeom prst="rect">
            <a:avLst/>
          </a:prstGeom>
          <a:solidFill>
            <a:srgbClr val="38BDF8">
              <a:alpha val="11000"/>
            </a:srgbClr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37360" y="20299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border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03120" y="2359152"/>
            <a:ext cx="2560320" cy="1783080"/>
          </a:xfrm>
          <a:prstGeom prst="rect">
            <a:avLst/>
          </a:prstGeom>
          <a:solidFill>
            <a:srgbClr val="34D399">
              <a:alpha val="12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padding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606040" y="2871216"/>
            <a:ext cx="1554480" cy="713232"/>
          </a:xfrm>
          <a:prstGeom prst="rect">
            <a:avLst/>
          </a:prstGeom>
          <a:solidFill>
            <a:srgbClr val="F8FAFC">
              <a:alpha val="92000"/>
            </a:srgbClr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0" y="31089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content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1828800"/>
            <a:ext cx="4389120" cy="2240280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65392" y="19842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93992" y="19842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22592" y="19842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96912" y="1956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CSS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620256" y="2304288"/>
            <a:ext cx="3950208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24px;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#ddd;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16px;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Color &amp; Typography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Design becomes readable when color and text choices are controlled.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19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3017520" cy="3474720"/>
          </a:xfrm>
          <a:prstGeom prst="roundRect">
            <a:avLst>
              <a:gd name="adj" fmla="val 2424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5819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Color Tips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1929384"/>
            <a:ext cx="2615184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Use 1 main color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Use contrast for readability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Avoid neon backgrounds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Keep buttons consistent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572000" y="1417320"/>
            <a:ext cx="3017520" cy="3474720"/>
          </a:xfrm>
          <a:prstGeom prst="roundRect">
            <a:avLst>
              <a:gd name="adj" fmla="val 2424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58191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Typography Tips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73168" y="1929384"/>
            <a:ext cx="2615184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Use readable fonts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Make headings larger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Keep line-height comfortable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Avoid too many font styles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138160" y="1417320"/>
            <a:ext cx="3108960" cy="347472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027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313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599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34272" y="1545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style.css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357616" y="1892808"/>
            <a:ext cx="2670048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#1f2937;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1.6;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#2563eb;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Guided Activity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Style the personal profile page.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5819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Task Checklist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1929384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Link style.css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Add background color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Style heading and paragraph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Add spacing with margin/padding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Create a styled button or link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572000" y="141732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Challenge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73168" y="1929384"/>
            <a:ext cx="252374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Add a card design around the profile content.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955280" y="141732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644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Reminder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56448" y="1929384"/>
            <a:ext cx="252374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Refresh the browser after saving changes.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91640" y="5760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MODULE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4767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</a:rPr>
              <a:t>Layouts: Arrange the Page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67512" y="305409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Modern websites are about spacing, alignment, and responsive layout.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69680" y="1325880"/>
            <a:ext cx="2560320" cy="3611880"/>
          </a:xfrm>
          <a:prstGeom prst="rect">
            <a:avLst/>
          </a:prstGeom>
          <a:solidFill>
            <a:srgbClr val="34D399">
              <a:alpha val="9000"/>
            </a:srgbClr>
          </a:solidFill>
          <a:ln w="1524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9828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</a:rPr>
              <a:t>&lt;  /  &gt;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Display Basics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block, inline, and inline-block behave differently.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50876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6733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block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2020824"/>
            <a:ext cx="252374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Starts on a new line and usually takes full width. Example: div, p, h1.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617720" y="150876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6733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inline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18888" y="2020824"/>
            <a:ext cx="252374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Stays within the line and ignores width/height. Example: span, a.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412480" y="1508760"/>
            <a:ext cx="2926080" cy="1600200"/>
          </a:xfrm>
          <a:prstGeom prst="roundRect">
            <a:avLst>
              <a:gd name="adj" fmla="val 4571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13648" y="167335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inline-block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13648" y="2020824"/>
            <a:ext cx="2523744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Stays inline but can accept width and height.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2194560" y="3703320"/>
            <a:ext cx="77724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359152" y="3858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87752" y="3858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16352" y="3858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90672" y="383133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display.css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414016" y="4178808"/>
            <a:ext cx="7333488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block;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.button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inline-block;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Flexbox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Flexbox is best for one-dimensional layout: row or column.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41732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183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7043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9903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73352" y="15453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flexbox.css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96696" y="1892808"/>
            <a:ext cx="4773168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.card-container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583680" y="141732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158191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display: flex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84848" y="1929384"/>
            <a:ext cx="32552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Turns the parent into a flex container.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0" y="2487168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4848" y="26517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justify-content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84848" y="2999232"/>
            <a:ext cx="32552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Controls horizontal spacing.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583680" y="3557016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3721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align-items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84848" y="4069080"/>
            <a:ext cx="325526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Controls vertical alignment.</a:t>
            </a:r>
            <a:endParaRPr lang="en-US" sz="10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CSS Grid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Grid is best for two-dimensional layout: rows and columns.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50876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33272" y="16642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61872" y="16642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90472" y="16642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64792" y="16367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grid.css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88136" y="1984248"/>
            <a:ext cx="4407408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 1fr);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20px;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400800" y="16002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8120" y="16002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35440" y="16002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2651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18120" y="2651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35440" y="265176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0" y="3931920"/>
            <a:ext cx="4251960" cy="777240"/>
          </a:xfrm>
          <a:prstGeom prst="roundRect">
            <a:avLst>
              <a:gd name="adj" fmla="val 941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4096512"/>
            <a:ext cx="3849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Tip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01968" y="4443984"/>
            <a:ext cx="3849624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Flexbox for navigation and small rows. Use Grid for galleries and page sections.</a:t>
            </a:r>
            <a:endParaRPr lang="en-US" sz="10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Responsive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page should work on desktop, tablet, and mobile.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5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61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15727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19072" y="15453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media query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42416" y="1892808"/>
            <a:ext cx="4956048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.card-container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flex-direction: column;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h1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font-size: 32px;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858000" y="141732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59168" y="158191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Flexible layout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59168" y="1929384"/>
            <a:ext cx="3072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Avoid fixed widths when possible.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858000" y="2532888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59168" y="269748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Media query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059168" y="3044952"/>
            <a:ext cx="3072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Apply different styles for smaller screens.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858000" y="3648456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9168" y="38130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Test often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59168" y="4160520"/>
            <a:ext cx="30723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Resize browser or use DevTools device mode.</a:t>
            </a:r>
            <a:endParaRPr lang="en-US" sz="10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Mini Project Brief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Build a responsive personal landing page.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26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41732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15819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Required Sections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8408" y="1929384"/>
            <a:ext cx="2889504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Header / navigation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Hero section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About section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Skills or hobbies cards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Contact form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Footer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34840" y="1417320"/>
            <a:ext cx="3291840" cy="3429000"/>
          </a:xfrm>
          <a:prstGeom prst="roundRect">
            <a:avLst>
              <a:gd name="adj" fmla="val 222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5819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CSS Requirements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36008" y="1929384"/>
            <a:ext cx="2889504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External CSS file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Custom colors and fonts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Box model spacing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Flexbox or Grid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Responsive media query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092440" y="1417320"/>
            <a:ext cx="2834640" cy="3429000"/>
          </a:xfrm>
          <a:prstGeom prst="roundRect">
            <a:avLst>
              <a:gd name="adj" fmla="val 2581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15819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Submission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93608" y="1929384"/>
            <a:ext cx="2432304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Open in browser and be ready to explain your code.</a:t>
            </a:r>
            <a:endParaRPr lang="en-US" sz="10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Mini Project Starter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Students can copy this structure and customize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13232" y="1234440"/>
            <a:ext cx="10972800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138988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06424" y="138988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35024" y="138988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9344" y="1362456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32688" y="1709928"/>
            <a:ext cx="10533888" cy="4224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 class="navbar"&gt;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&lt;h1&gt;My Portfolio&lt;/h1&gt;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href="#about"&gt;About&lt;/a&gt;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href="#contact"&gt;Contact&lt;/a&gt;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&lt;/nav&gt;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class="hero"&gt;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&lt;h2&gt;Hello, I am Carl&lt;/h2&gt;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&lt;p&gt;A student learning web development.&lt;/p&gt;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class="button" href="#contact"&gt;Contact Me&lt;/a&gt;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Design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Simple rules that make beginner websites look cleaner.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28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Spacing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1929384"/>
            <a:ext cx="252374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padding inside sections and margin between blocks.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617720" y="141732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Alignment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18888" y="1929384"/>
            <a:ext cx="252374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Flexbox/Grid instead of manual spaces or too many breaks.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412480" y="1417320"/>
            <a:ext cx="2926080" cy="3337560"/>
          </a:xfrm>
          <a:prstGeom prst="roundRect">
            <a:avLst>
              <a:gd name="adj" fmla="val 250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1364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Consistency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13648" y="1929384"/>
            <a:ext cx="252374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Use one color palette, one button style, and consistent card sizes.</a:t>
            </a:r>
            <a:endParaRPr lang="en-US" sz="10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Quick Rubric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Use this for checking student output quickly.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29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0584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HTML structure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60520" y="1325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20%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0" y="13258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Uses semantic tags and valid structure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1737360"/>
            <a:ext cx="9692640" cy="0"/>
          </a:xfrm>
          <a:prstGeom prst="line">
            <a:avLst/>
          </a:prstGeom>
          <a:noFill/>
          <a:ln w="1270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075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CSS styling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60520" y="20756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25%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2075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Readable design, spacing, colors, typography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0120" y="2487168"/>
            <a:ext cx="9692640" cy="0"/>
          </a:xfrm>
          <a:prstGeom prst="line">
            <a:avLst/>
          </a:prstGeom>
          <a:noFill/>
          <a:ln w="1270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28254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Layout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60520" y="28254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25%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0" y="28254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Uses Flexbox or Grid properly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3236976"/>
            <a:ext cx="9692640" cy="0"/>
          </a:xfrm>
          <a:prstGeom prst="line">
            <a:avLst/>
          </a:prstGeom>
          <a:noFill/>
          <a:ln w="1270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5753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Responsive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160520" y="35753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20%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03520" y="35753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Looks acceptable on mobile width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0120" y="3986784"/>
            <a:ext cx="9692640" cy="0"/>
          </a:xfrm>
          <a:prstGeom prst="line">
            <a:avLst/>
          </a:prstGeom>
          <a:noFill/>
          <a:ln w="12700">
            <a:solidFill>
              <a:srgbClr val="334155">
                <a:alpha val="6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325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Presentation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160520" y="43251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10%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03520" y="43251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Can explain code clearly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0120" y="4736592"/>
            <a:ext cx="9692640" cy="0"/>
          </a:xfrm>
          <a:prstGeom prst="line">
            <a:avLst/>
          </a:prstGeom>
          <a:noFill/>
          <a:ln w="12700">
            <a:solidFill>
              <a:srgbClr val="334155">
                <a:alpha val="6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Common Beginner Bugs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Most web errors are small typos or missing links.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77240" y="141732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15819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HTML Issues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8408" y="1929384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Missing closing tag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Wrong file path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Image not showing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Typo in attribute name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434840" y="1417320"/>
            <a:ext cx="3291840" cy="3337560"/>
          </a:xfrm>
          <a:prstGeom prst="roundRect">
            <a:avLst>
              <a:gd name="adj" fmla="val 2222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58191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CSS Issues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36008" y="1929384"/>
            <a:ext cx="28895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CSS file not linked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Missing semicolon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Wrong class name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• Selector too broad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092440" y="1417320"/>
            <a:ext cx="2834640" cy="3337560"/>
          </a:xfrm>
          <a:prstGeom prst="roundRect">
            <a:avLst>
              <a:gd name="adj" fmla="val 2581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15819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Debug Steps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93608" y="1929384"/>
            <a:ext cx="2432304" cy="2660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Save file, refresh browser, inspect element, check spelling.</a:t>
            </a:r>
            <a:endParaRPr lang="en-US" sz="10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Instructor Flow Script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Use this as your teaching pattern per topic.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31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5819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1. Explain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1929384"/>
            <a:ext cx="151790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Define the concept in simple terms.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01752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8688" y="15819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2. Show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18688" y="1929384"/>
            <a:ext cx="151790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Point to the visual or sample code.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21208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3248" y="15819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3. Code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13248" y="1929384"/>
            <a:ext cx="151790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Build it live from scratch.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40664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07808" y="15819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4. Ask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07808" y="1929384"/>
            <a:ext cx="151790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Ask students to predict what happens.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9601200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02368" y="158191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5. Practice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802368" y="1929384"/>
            <a:ext cx="151790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Give a quick hands-on task.</a:t>
            </a:r>
            <a:endParaRPr lang="en-US" sz="10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Closing Reflection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Students should leave with a working web page and a clear next step.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32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68680" y="1463040"/>
            <a:ext cx="3017520" cy="3017520"/>
          </a:xfrm>
          <a:prstGeom prst="roundRect">
            <a:avLst>
              <a:gd name="adj" fmla="val 2424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Ask Students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9848" y="1975104"/>
            <a:ext cx="2615184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What part was easiest? What part was confusing? What will you improve next?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572000" y="1463040"/>
            <a:ext cx="3017520" cy="3017520"/>
          </a:xfrm>
          <a:prstGeom prst="roundRect">
            <a:avLst>
              <a:gd name="adj" fmla="val 2424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Next Practice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73168" y="1975104"/>
            <a:ext cx="2615184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Rebuild a simple website you like using only HTML and CSS.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275320" y="1463040"/>
            <a:ext cx="3017520" cy="3017520"/>
          </a:xfrm>
          <a:prstGeom prst="roundRect">
            <a:avLst>
              <a:gd name="adj" fmla="val 2424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76488" y="16276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Next Topic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76488" y="1975104"/>
            <a:ext cx="2615184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JavaScript basics: make the page interactive.</a:t>
            </a:r>
            <a:endParaRPr lang="en-US" sz="10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Useful Practice 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8778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Optional tasks for fast finishers.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" y="1417320"/>
            <a:ext cx="3063240" cy="3474720"/>
          </a:xfrm>
          <a:prstGeom prst="roundRect">
            <a:avLst>
              <a:gd name="adj" fmla="val 2388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58191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Easy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24128" y="1929384"/>
            <a:ext cx="2660904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Create a favorite movies list with images and links.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572000" y="1417320"/>
            <a:ext cx="3063240" cy="3474720"/>
          </a:xfrm>
          <a:prstGeom prst="roundRect">
            <a:avLst>
              <a:gd name="adj" fmla="val 2388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58191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Medium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73168" y="1929384"/>
            <a:ext cx="2660904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Create a three-card services section using Flexbox.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321040" y="1417320"/>
            <a:ext cx="3063240" cy="3474720"/>
          </a:xfrm>
          <a:prstGeom prst="roundRect">
            <a:avLst>
              <a:gd name="adj" fmla="val 2388"/>
            </a:avLst>
          </a:prstGeom>
          <a:solidFill>
            <a:srgbClr val="172033">
              <a:alpha val="97000"/>
            </a:srgbClr>
          </a:solidFill>
          <a:ln w="1016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22208" y="1581912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Hard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22208" y="1929384"/>
            <a:ext cx="2660904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Create a responsive landing page with navbar, hero, cards, and contact form.</a:t>
            </a:r>
            <a:endParaRPr lang="en-US" sz="10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</a:rPr>
              <a:t>Next: JavaScript basics and DOM interaction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06640" y="14173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0160">
            <a:solidFill>
              <a:srgbClr val="334155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15784" y="1426464"/>
            <a:ext cx="3456432" cy="3931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0376" y="1545336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08976" y="1545336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7576" y="1545336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21305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Keep Building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9560" y="2660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Practice daily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09560" y="2990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Experiment with layouts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33192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Share your work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6428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Foundations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0140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CSS Foundations</dc:title>
  <dc:subject>HTML and CSS 4-hour teaching presentation</dc:subject>
  <dc:creator>OpenAI</dc:creator>
  <cp:lastModifiedBy>OpenAI</cp:lastModifiedBy>
  <cp:revision>1</cp:revision>
  <dcterms:created xsi:type="dcterms:W3CDTF">2026-10-06T09:02:45Z</dcterms:created>
  <dcterms:modified xsi:type="dcterms:W3CDTF">2026-10-06T09:02:45Z</dcterms:modified>
</cp:coreProperties>
</file>